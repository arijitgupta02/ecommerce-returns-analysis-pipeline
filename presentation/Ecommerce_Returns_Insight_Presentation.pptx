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Returns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Pipeline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77240" y="3703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 3 — Artificial Intelligence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• Exploratory Data Analysis • Business Insights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640080"/>
            <a:ext cx="502920" cy="502920"/>
          </a:xfrm>
          <a:prstGeom prst="rect">
            <a:avLst/>
          </a:prstGeom>
          <a:solidFill>
            <a:srgbClr val="1E7F76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0" y="51206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6000</a:t>
            </a:r>
            <a:endParaRPr lang="en-US" sz="1300" dirty="0"/>
          </a:p>
          <a:p>
            <a:pPr algn="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messy, raw e-commerce returns export was cleaned end-to-end and explored to surface actionable business insights.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48256" cy="2651760"/>
          </a:xfrm>
          <a:prstGeom prst="roundRect">
            <a:avLst>
              <a:gd name="adj" fmla="val 357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29968"/>
            <a:ext cx="457200" cy="457200"/>
          </a:xfrm>
          <a:prstGeom prst="ellipse">
            <a:avLst/>
          </a:prstGeom>
          <a:solidFill>
            <a:srgbClr val="1E7F7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 Data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6,150 raw order records with quality issues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61488" y="1828800"/>
            <a:ext cx="2048256" cy="2651760"/>
          </a:xfrm>
          <a:prstGeom prst="roundRect">
            <a:avLst>
              <a:gd name="adj" fmla="val 357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98648" y="2029968"/>
            <a:ext cx="457200" cy="457200"/>
          </a:xfrm>
          <a:prstGeom prst="ellipse">
            <a:avLst/>
          </a:prstGeom>
          <a:solidFill>
            <a:srgbClr val="1E7F76"/>
          </a:solidFill>
          <a:ln/>
        </p:spPr>
      </p:sp>
      <p:sp>
        <p:nvSpPr>
          <p:cNvPr id="11" name="Text 9"/>
          <p:cNvSpPr/>
          <p:nvPr/>
        </p:nvSpPr>
        <p:spPr>
          <a:xfrm>
            <a:off x="2898648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98648" y="26974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898648" y="310896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imputed, duplicates removed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74336" y="1828800"/>
            <a:ext cx="2048256" cy="2651760"/>
          </a:xfrm>
          <a:prstGeom prst="roundRect">
            <a:avLst>
              <a:gd name="adj" fmla="val 357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11496" y="2029968"/>
            <a:ext cx="457200" cy="457200"/>
          </a:xfrm>
          <a:prstGeom prst="ellipse">
            <a:avLst/>
          </a:prstGeom>
          <a:solidFill>
            <a:srgbClr val="1E7F76"/>
          </a:solidFill>
          <a:ln/>
        </p:spPr>
      </p:sp>
      <p:sp>
        <p:nvSpPr>
          <p:cNvPr id="16" name="Text 14"/>
          <p:cNvSpPr/>
          <p:nvPr/>
        </p:nvSpPr>
        <p:spPr>
          <a:xfrm>
            <a:off x="5111496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11496" y="26974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Outliers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111496" y="310896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clipping on price, delivery, quantity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87184" y="1828800"/>
            <a:ext cx="2048256" cy="2651760"/>
          </a:xfrm>
          <a:prstGeom prst="roundRect">
            <a:avLst>
              <a:gd name="adj" fmla="val 357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24344" y="2029968"/>
            <a:ext cx="457200" cy="457200"/>
          </a:xfrm>
          <a:prstGeom prst="ellipse">
            <a:avLst/>
          </a:prstGeom>
          <a:solidFill>
            <a:srgbClr val="1E7F76"/>
          </a:solidFill>
          <a:ln/>
        </p:spPr>
      </p:sp>
      <p:sp>
        <p:nvSpPr>
          <p:cNvPr id="21" name="Text 19"/>
          <p:cNvSpPr/>
          <p:nvPr/>
        </p:nvSpPr>
        <p:spPr>
          <a:xfrm>
            <a:off x="7324344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24344" y="26974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&amp; Scale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324344" y="310896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Label/one-hot encoding + Min-Max normalization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400032" y="1828800"/>
            <a:ext cx="2048256" cy="2651760"/>
          </a:xfrm>
          <a:prstGeom prst="roundRect">
            <a:avLst>
              <a:gd name="adj" fmla="val 357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37192" y="2029968"/>
            <a:ext cx="457200" cy="457200"/>
          </a:xfrm>
          <a:prstGeom prst="ellipse">
            <a:avLst/>
          </a:prstGeom>
          <a:solidFill>
            <a:srgbClr val="1E7F76"/>
          </a:solidFill>
          <a:ln/>
        </p:spPr>
      </p:sp>
      <p:sp>
        <p:nvSpPr>
          <p:cNvPr id="26" name="Text 24"/>
          <p:cNvSpPr/>
          <p:nvPr/>
        </p:nvSpPr>
        <p:spPr>
          <a:xfrm>
            <a:off x="9537192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537192" y="26974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537192" y="310896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+ 6 business insights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4800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 after cleaning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5257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48640" y="5760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orders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200400" y="5257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3200400" y="5760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852160" y="5257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21.6%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5852160" y="5760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return rate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503920" y="5257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8503920" y="5760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7F7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by Product Category</a:t>
            </a:r>
            <a:endParaRPr lang="en-US" sz="2100" dirty="0"/>
          </a:p>
        </p:txBody>
      </p:sp>
      <p:pic>
        <p:nvPicPr>
          <p:cNvPr id="5" name="Image 0" descr="charts/insight1_return_rate_categ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502920"/>
            <a:ext cx="553212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002536"/>
            <a:ext cx="82296" cy="82296"/>
          </a:xfrm>
          <a:prstGeom prst="ellipse">
            <a:avLst/>
          </a:prstGeom>
          <a:solidFill>
            <a:srgbClr val="E07A3E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8470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lead at 23.7% return rate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569464"/>
            <a:ext cx="82296" cy="82296"/>
          </a:xfrm>
          <a:prstGeom prst="ellipse">
            <a:avLst/>
          </a:prstGeom>
          <a:solidFill>
            <a:srgbClr val="E07A3E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4140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Toys and Grocery follow closely behind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136392"/>
            <a:ext cx="82296" cy="82296"/>
          </a:xfrm>
          <a:prstGeom prst="ellipse">
            <a:avLst/>
          </a:prstGeom>
          <a:solidFill>
            <a:srgbClr val="E07A3E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98094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&amp; Home/Kitchen are the most 'sticky' categories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5193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31520" y="5468112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Low-cost, impulse-buy categories like Books and Toys see the highest returns — worth a closer look at product descriptions, sizing/edition clarity, and packaging quality for these SKUs.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7F7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Reasons Customers Return Items</a:t>
            </a:r>
            <a:endParaRPr lang="en-US" sz="2100" dirty="0"/>
          </a:p>
        </p:txBody>
      </p:sp>
      <p:pic>
        <p:nvPicPr>
          <p:cNvPr id="5" name="Image 0" descr="charts/insight2_return_reas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502920"/>
            <a:ext cx="553212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002536"/>
            <a:ext cx="82296" cy="82296"/>
          </a:xfrm>
          <a:prstGeom prst="ellipse">
            <a:avLst/>
          </a:prstGeom>
          <a:solidFill>
            <a:srgbClr val="E07A3E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8470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"Wrong Item Delivered" is the #1 reason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569464"/>
            <a:ext cx="82296" cy="82296"/>
          </a:xfrm>
          <a:prstGeom prst="ellipse">
            <a:avLst/>
          </a:prstGeom>
          <a:solidFill>
            <a:srgbClr val="E07A3E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4140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"Changed Mind" and "Defective Product" follow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136392"/>
            <a:ext cx="82296" cy="82296"/>
          </a:xfrm>
          <a:prstGeom prst="ellipse">
            <a:avLst/>
          </a:prstGeom>
          <a:solidFill>
            <a:srgbClr val="E07A3E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98094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is a comparatively minor driver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5193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31520" y="5468112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Wrong-item errors point to a fulfilment/warehouse QA issue, while high 'Changed Mind' volume suggests improving pre-purchase content (photos, size charts, specs) to set correct expectations.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7F7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Value: Returned vs. Kept Orders</a:t>
            </a:r>
            <a:endParaRPr lang="en-US" sz="2100" dirty="0"/>
          </a:p>
        </p:txBody>
      </p:sp>
      <p:pic>
        <p:nvPicPr>
          <p:cNvPr id="5" name="Image 0" descr="charts/insight3_order_value_vs_retur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502920"/>
            <a:ext cx="553212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002536"/>
            <a:ext cx="82296" cy="82296"/>
          </a:xfrm>
          <a:prstGeom prst="ellipse">
            <a:avLst/>
          </a:prstGeom>
          <a:solidFill>
            <a:srgbClr val="E07A3E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8470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order value is nearly identical either way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569464"/>
            <a:ext cx="82296" cy="82296"/>
          </a:xfrm>
          <a:prstGeom prst="ellipse">
            <a:avLst/>
          </a:prstGeom>
          <a:solidFill>
            <a:srgbClr val="E07A3E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4140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Returned: ~₹1,082  |  Not returned: ~₹1,123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136392"/>
            <a:ext cx="82296" cy="82296"/>
          </a:xfrm>
          <a:prstGeom prst="ellipse">
            <a:avLst/>
          </a:prstGeom>
          <a:solidFill>
            <a:srgbClr val="E07A3E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98094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strong link between spend level and return likelihood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5193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31520" y="5468112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returns aren't concentrated in high-value orders, return-reduction initiatives should be applied broadly across the catalog rather than targeted only at premium products.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7F7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Order Volume Trend</a:t>
            </a:r>
            <a:endParaRPr lang="en-US" sz="2100" dirty="0"/>
          </a:p>
        </p:txBody>
      </p:sp>
      <p:pic>
        <p:nvPicPr>
          <p:cNvPr id="5" name="Image 0" descr="charts/insight4_monthly_tre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502920"/>
            <a:ext cx="553212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002536"/>
            <a:ext cx="82296" cy="82296"/>
          </a:xfrm>
          <a:prstGeom prst="ellipse">
            <a:avLst/>
          </a:prstGeom>
          <a:solidFill>
            <a:srgbClr val="E07A3E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8470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upward trend across the 2-year window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569464"/>
            <a:ext cx="82296" cy="82296"/>
          </a:xfrm>
          <a:prstGeom prst="ellipse">
            <a:avLst/>
          </a:prstGeom>
          <a:solidFill>
            <a:srgbClr val="E07A3E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4140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roughly tripled from month 1 to now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136392"/>
            <a:ext cx="82296" cy="82296"/>
          </a:xfrm>
          <a:prstGeom prst="ellipse">
            <a:avLst/>
          </a:prstGeom>
          <a:solidFill>
            <a:srgbClr val="E07A3E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98094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dips and spikes visible month to month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5193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31520" y="5468112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growth in order volume means returns-processing capacity, warehouse staffing, and customer support should scale proportionally ahead of peak months.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7F7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by Delivery Time</a:t>
            </a:r>
            <a:endParaRPr lang="en-US" sz="2100" dirty="0"/>
          </a:p>
        </p:txBody>
      </p:sp>
      <p:pic>
        <p:nvPicPr>
          <p:cNvPr id="5" name="Image 0" descr="charts/insight5_delivery_vs_retur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502920"/>
            <a:ext cx="553212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002536"/>
            <a:ext cx="82296" cy="82296"/>
          </a:xfrm>
          <a:prstGeom prst="ellipse">
            <a:avLst/>
          </a:prstGeom>
          <a:solidFill>
            <a:srgbClr val="E07A3E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8470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day deliveries show the highest return rate (22.9%)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569464"/>
            <a:ext cx="82296" cy="82296"/>
          </a:xfrm>
          <a:prstGeom prst="ellipse">
            <a:avLst/>
          </a:prstGeom>
          <a:solidFill>
            <a:srgbClr val="E07A3E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4140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day (slow) deliveries show the lowest (16.5%)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136392"/>
            <a:ext cx="82296" cy="82296"/>
          </a:xfrm>
          <a:prstGeom prst="ellipse">
            <a:avLst/>
          </a:prstGeom>
          <a:solidFill>
            <a:srgbClr val="E07A3E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98094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is modest across all buckets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5193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31520" y="5468112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speed has only a mild relationship with returns — it should be monitored but is not the primary lever for reducing return volume; fulfilment accuracy (Insight 2) matters more.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7F7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Returns &amp; Regional Revenue</a:t>
            </a:r>
            <a:endParaRPr lang="en-US" sz="2100" dirty="0"/>
          </a:p>
        </p:txBody>
      </p:sp>
      <p:pic>
        <p:nvPicPr>
          <p:cNvPr id="5" name="Image 0" descr="charts/insight6_payment_vs_retur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502920"/>
            <a:ext cx="553212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002536"/>
            <a:ext cx="82296" cy="82296"/>
          </a:xfrm>
          <a:prstGeom prst="ellipse">
            <a:avLst/>
          </a:prstGeom>
          <a:solidFill>
            <a:srgbClr val="E07A3E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8470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Banking has the highest return rate (23.7%)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569464"/>
            <a:ext cx="82296" cy="82296"/>
          </a:xfrm>
          <a:prstGeom prst="ellipse">
            <a:avLst/>
          </a:prstGeom>
          <a:solidFill>
            <a:srgbClr val="E07A3E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4140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and Debit Card are the most 'reliable' methods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136392"/>
            <a:ext cx="82296" cy="82296"/>
          </a:xfrm>
          <a:prstGeom prst="ellipse">
            <a:avLst/>
          </a:prstGeom>
          <a:solidFill>
            <a:srgbClr val="E07A3E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98094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region leads total revenue (₹2.6M)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5193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31520" y="5468112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Banking orders merit a closer behavioral/fraud review given their elevated return rate, while the North region's revenue lead makes it a strong candidate for a dedicated regional fulfilment or marketing push.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numeric features relate to each other and to the return outcome.</a:t>
            </a:r>
            <a:endParaRPr lang="en-US" sz="1300" dirty="0"/>
          </a:p>
        </p:txBody>
      </p:sp>
      <p:pic>
        <p:nvPicPr>
          <p:cNvPr id="4" name="Image 0" descr="charts/correlation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371600"/>
            <a:ext cx="5486400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1636776"/>
            <a:ext cx="82296" cy="82296"/>
          </a:xfrm>
          <a:prstGeom prst="ellipse">
            <a:avLst/>
          </a:prstGeom>
          <a:solidFill>
            <a:srgbClr val="E07A3E"/>
          </a:solidFill>
          <a:ln/>
        </p:spPr>
      </p:sp>
      <p:sp>
        <p:nvSpPr>
          <p:cNvPr id="6" name="Text 3"/>
          <p:cNvSpPr/>
          <p:nvPr/>
        </p:nvSpPr>
        <p:spPr>
          <a:xfrm>
            <a:off x="6995160" y="144475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order_value are strongly positively correlated, as expected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766560" y="2596896"/>
            <a:ext cx="82296" cy="82296"/>
          </a:xfrm>
          <a:prstGeom prst="ellipse">
            <a:avLst/>
          </a:prstGeom>
          <a:solidFill>
            <a:srgbClr val="E07A3E"/>
          </a:solidFill>
          <a:ln/>
        </p:spPr>
      </p:sp>
      <p:sp>
        <p:nvSpPr>
          <p:cNvPr id="8" name="Text 5"/>
          <p:cNvSpPr/>
          <p:nvPr/>
        </p:nvSpPr>
        <p:spPr>
          <a:xfrm>
            <a:off x="6995160" y="240487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is_returned shows only weak correlation with any single numeric feature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766560" y="3557016"/>
            <a:ext cx="82296" cy="82296"/>
          </a:xfrm>
          <a:prstGeom prst="ellipse">
            <a:avLst/>
          </a:prstGeom>
          <a:solidFill>
            <a:srgbClr val="E07A3E"/>
          </a:solidFill>
          <a:ln/>
        </p:spPr>
      </p:sp>
      <p:sp>
        <p:nvSpPr>
          <p:cNvPr id="10" name="Text 7"/>
          <p:cNvSpPr/>
          <p:nvPr/>
        </p:nvSpPr>
        <p:spPr>
          <a:xfrm>
            <a:off x="6995160" y="336499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numeric feature alone predicts returns — return behavior is driven more by categorical factors (category, reason, payment method) than by price or delivery timing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766560" y="4517136"/>
            <a:ext cx="82296" cy="82296"/>
          </a:xfrm>
          <a:prstGeom prst="ellipse">
            <a:avLst/>
          </a:prstGeom>
          <a:solidFill>
            <a:srgbClr val="E07A3E"/>
          </a:solidFill>
          <a:ln/>
        </p:spPr>
      </p:sp>
      <p:sp>
        <p:nvSpPr>
          <p:cNvPr id="12" name="Text 9"/>
          <p:cNvSpPr/>
          <p:nvPr/>
        </p:nvSpPr>
        <p:spPr>
          <a:xfrm>
            <a:off x="6995160" y="432511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justifies the multi-angle EDA approach used across the six insights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24365E"/>
          </a:solidFill>
          <a:ln w="12700">
            <a:solidFill>
              <a:srgbClr val="243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4447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184708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fulfilment accuracy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7627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Wrong-item delivery is the top return driver — prioritize warehouse QA checks.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63640" y="128016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24365E"/>
          </a:solidFill>
          <a:ln w="12700">
            <a:solidFill>
              <a:srgbClr val="2436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4447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2240" y="184708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listings for Books &amp; Toys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17627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Highest-return categories; clarify editions, sizing, and product photos.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24365E"/>
          </a:solidFill>
          <a:ln w="12700">
            <a:solidFill>
              <a:srgbClr val="2436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0906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77240" y="349300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ops with order growth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8221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is trending up — plan staffing &amp; returns capacity ahead of peaks.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292608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24365E"/>
          </a:solidFill>
          <a:ln w="12700">
            <a:solidFill>
              <a:srgbClr val="2436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0906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92240" y="349300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Net Banking transactions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8221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return rate on this payment method warrants a behavioral check.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24365E"/>
          </a:solidFill>
          <a:ln w="12700">
            <a:solidFill>
              <a:srgbClr val="2436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7365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77240" y="513892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Apply-return fixes catalog-wide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546811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aren't value-concentrated, so fixes should span the full catalog.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457200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24365E"/>
          </a:solidFill>
          <a:ln w="12700">
            <a:solidFill>
              <a:srgbClr val="2436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7365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92240" y="513892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North region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546811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region — strong candidate for a dedicated fulfilment hub.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91440" cy="1143000"/>
          </a:xfrm>
          <a:prstGeom prst="rect">
            <a:avLst/>
          </a:prstGeom>
          <a:solidFill>
            <a:srgbClr val="1E7F7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ecommerce_returns_cleaned.csv — 6,000 rows, zero missing values, outliers treated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880360"/>
            <a:ext cx="91440" cy="1143000"/>
          </a:xfrm>
          <a:prstGeom prst="rect">
            <a:avLst/>
          </a:prstGeom>
          <a:solidFill>
            <a:srgbClr val="1E7F7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Notebook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429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Ecommerce_Returns_Analysis_Pipeline.ipynb — full Colab-ready pipeline, step by step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4297680"/>
            <a:ext cx="91440" cy="1143000"/>
          </a:xfrm>
          <a:prstGeom prst="rect">
            <a:avLst/>
          </a:prstGeom>
          <a:solidFill>
            <a:srgbClr val="1E7F7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Presentation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— 6 business insights with visualizations &amp; recommendations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035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2026-08-20T02:38:23Z</dcterms:created>
  <dcterms:modified xsi:type="dcterms:W3CDTF">2026-08-20T02:38:23Z</dcterms:modified>
</cp:coreProperties>
</file>